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D5CE26-2F67-41CB-8293-BE2EF787D86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C3ABB9-0180-41BB-AE83-8A853E35CCB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543720" y="365040"/>
            <a:ext cx="197136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28560" y="365040"/>
            <a:ext cx="58003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49EF22-9738-4B5F-A6A0-9482C911D88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513B1E-0D06-4A10-9DC0-233BA1542CE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9E3CA3-4223-403F-86DB-1BF1A47E167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38858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29240" y="1825560"/>
            <a:ext cx="38858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51FCD8-C631-48C1-AAC6-E74DD5CBF7C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3000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30000" y="1681200"/>
            <a:ext cx="386784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30000" y="2505240"/>
            <a:ext cx="386784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29240" y="1681200"/>
            <a:ext cx="3886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29240" y="2505240"/>
            <a:ext cx="3886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23D1C8-EB2F-4846-8EDC-C1302C42FDD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CE5728-64AF-4FE3-AA3E-7DB5C50B0CC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2047E5-8A3B-4091-9CF3-B50DE0158C4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876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876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ECE185-E2B7-456D-B41F-2EEE7E1CF7B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876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no ícone para adicionar uma imagem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876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21259C-0A94-4499-B960-029851DE301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"/>
          <p:cNvSpPr/>
          <p:nvPr/>
        </p:nvSpPr>
        <p:spPr>
          <a:xfrm>
            <a:off x="0" y="1147320"/>
            <a:ext cx="9143640" cy="5147640"/>
          </a:xfrm>
          <a:prstGeom prst="rect">
            <a:avLst/>
          </a:prstGeom>
          <a:solidFill>
            <a:srgbClr val="003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rial Narrow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15940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pt-BR" sz="28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PRÉ-PROCESSAMENTO DE BAIXO CUSTO PARA MITIGAÇÃO DE INVERSÕES: OTIMIZANDO A EFICIÊNCIA DE ALGORITMOS QUADRÁTICOS</a:t>
            </a:r>
            <a:br>
              <a:rPr sz="2800"/>
            </a:br>
            <a:br>
              <a:rPr sz="2800"/>
            </a:b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143000" y="4109040"/>
            <a:ext cx="6857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000" b="1" u="none" strike="noStrike" dirty="0">
                <a:solidFill>
                  <a:schemeClr val="lt1"/>
                </a:solidFill>
                <a:effectLst/>
                <a:uFillTx/>
                <a:latin typeface="Arial Narrow"/>
              </a:rPr>
              <a:t>Samuel da Penha Nascimento</a:t>
            </a:r>
            <a:endParaRPr lang="pt-BR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000" b="0" u="none" strike="noStrike" dirty="0">
                <a:solidFill>
                  <a:schemeClr val="lt1"/>
                </a:solidFill>
                <a:effectLst/>
                <a:uFillTx/>
                <a:latin typeface="Arial Narrow"/>
              </a:rPr>
              <a:t>Autor</a:t>
            </a:r>
            <a:endParaRPr lang="pt-BR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000" b="1" u="none" strike="noStrike" dirty="0">
                <a:solidFill>
                  <a:schemeClr val="lt1"/>
                </a:solidFill>
                <a:effectLst/>
                <a:uFillTx/>
                <a:latin typeface="Arial Narrow"/>
              </a:rPr>
              <a:t>Mestre Francisco das Chagas Rocha</a:t>
            </a:r>
            <a:endParaRPr lang="pt-BR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000" b="0" u="none" strike="noStrike" dirty="0">
                <a:solidFill>
                  <a:schemeClr val="lt1"/>
                </a:solidFill>
                <a:effectLst/>
                <a:uFillTx/>
                <a:latin typeface="Arial Narrow"/>
              </a:rPr>
              <a:t>Orientador</a:t>
            </a:r>
            <a:endParaRPr lang="pt-BR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Imagem 4"/>
          <p:cNvPicPr/>
          <p:nvPr/>
        </p:nvPicPr>
        <p:blipFill>
          <a:blip r:embed="rId2"/>
          <a:stretch/>
        </p:blipFill>
        <p:spPr>
          <a:xfrm>
            <a:off x="73080" y="5724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CaixaDeTexto 8"/>
          <p:cNvSpPr/>
          <p:nvPr/>
        </p:nvSpPr>
        <p:spPr>
          <a:xfrm>
            <a:off x="73080" y="6392160"/>
            <a:ext cx="8997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 Nova Cond Light"/>
              </a:rPr>
              <a:t>QUALIFICAÇÃO DO PROJETO DE PESQUISA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m 9"/>
          <p:cNvPicPr/>
          <p:nvPr/>
        </p:nvPicPr>
        <p:blipFill>
          <a:blip r:embed="rId3"/>
          <a:stretch/>
        </p:blipFill>
        <p:spPr>
          <a:xfrm>
            <a:off x="8001000" y="83880"/>
            <a:ext cx="899280" cy="1005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Justificativa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480680" y="1385280"/>
            <a:ext cx="7394040" cy="52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A ordenação é base fundamental para sistemas de buscas e banco de dados.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Algoritmos quadráticos 	mantêm relevância em cenários específicos.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Relevantes</a:t>
            </a: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em sistemas embarcados </a:t>
            </a:r>
            <a:r>
              <a:rPr lang="pt-BR" sz="2800" dirty="0">
                <a:latin typeface="Calibri"/>
              </a:rPr>
              <a:t>e tempo real devido ao baixo consumo de memória.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Simplicidade estrutural facilita a implementação em hardware limitado.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A eficiência prática depende do grau de desordem da entrada.</a:t>
            </a:r>
            <a:endParaRPr lang="pt-B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Reduzir</a:t>
            </a: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inversões diminui o custo das movimentações durante a ordenação.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Problemática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480680" y="1385280"/>
            <a:ext cx="7394040" cy="52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Complexidade quadrática torna-se proibitiva em grande volume de dados.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Alta entropia gera um volume elevado de operações de permuta e deslocamentos.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Baixa adaptação ao grau de ordenação da entrada.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Desperdício de ciclos de CPU ao ignorar o nível de ordenação inicial dos dados.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O número de inversões é um fator determinante para o desempenho dos algoritmos quadráticos.</a:t>
            </a:r>
            <a:br>
              <a:rPr sz="2800" dirty="0"/>
            </a:br>
            <a:br>
              <a:rPr sz="2800" dirty="0"/>
            </a:br>
            <a:br>
              <a:rPr sz="2800" dirty="0"/>
            </a:b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 Narrow"/>
              </a:rPr>
              <a:t>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Questão de Pesquisa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480680" y="1385280"/>
            <a:ext cx="7394040" cy="52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Em que medida a implementação de uma etapa de pré-processamento voltada a redução de inversões impacta o desempenho prático de algoritmos de ordenação quadráticos?</a:t>
            </a:r>
            <a:br>
              <a:rPr sz="2800" dirty="0"/>
            </a:br>
            <a:br>
              <a:rPr sz="2800" dirty="0"/>
            </a:br>
            <a:br>
              <a:rPr sz="2800" dirty="0"/>
            </a:b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 Narrow"/>
              </a:rPr>
              <a:t>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Objetivos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480680" y="1385280"/>
            <a:ext cx="7394040" cy="693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 Narrow"/>
              </a:rPr>
              <a:t>Objetivo Geral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Desenvolver um algoritmo de pr</a:t>
            </a:r>
            <a:r>
              <a:rPr lang="pt-BR" sz="2400" dirty="0">
                <a:solidFill>
                  <a:schemeClr val="dk1"/>
                </a:solidFill>
                <a:latin typeface="Calibri"/>
              </a:rPr>
              <a:t>é-processamento que reduz o número de inversões de uma entrada e que a soma do pré-processamento com a ordenação seja mais eficiente que o algoritmo de ordenação puro.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800" dirty="0"/>
            </a:br>
            <a:br>
              <a:rPr sz="2800" dirty="0"/>
            </a:br>
            <a:br>
              <a:rPr sz="2800" dirty="0"/>
            </a:b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Objetivos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PlaceHolder 2"/>
              <p:cNvSpPr>
                <a:spLocks noGrp="1"/>
              </p:cNvSpPr>
              <p:nvPr>
                <p:ph/>
              </p:nvPr>
            </p:nvSpPr>
            <p:spPr>
              <a:xfrm>
                <a:off x="1480680" y="1385280"/>
                <a:ext cx="7394040" cy="69368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228600" indent="-228600" algn="l" defTabSz="91440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pt-BR" sz="2800" b="0" u="none" strike="noStrike" dirty="0">
                    <a:solidFill>
                      <a:schemeClr val="dk1"/>
                    </a:solidFill>
                    <a:effectLst/>
                    <a:uFillTx/>
                    <a:latin typeface="Arial Narrow"/>
                  </a:rPr>
                  <a:t>Objetivos Específicos</a:t>
                </a:r>
                <a:endParaRPr lang="pt-BR" sz="2800" b="0" u="none" strike="noStrike" dirty="0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  <a:p>
                <a:pPr marL="685800" lvl="1" indent="-228600" algn="l" defTabSz="9144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Analisar teoricamente como o número de inversões afeta o tempo de execução dos algoritmos quadráticos alvos estabelecendo a base teórica para o pré-processamento.</a:t>
                </a:r>
              </a:p>
              <a:p>
                <a:pPr marL="685800" lvl="1" indent="-228600" algn="l" defTabSz="9144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Desenvolver o design lógico e do algoritmo simétrico de baixo custo, garantindo estritamente que sua complexidade assintótica de tempo seja inferior a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 e que ele opere de forma </a:t>
                </a:r>
                <a:r>
                  <a:rPr lang="pt-BR" sz="2000" i="1" dirty="0" err="1">
                    <a:solidFill>
                      <a:schemeClr val="dk1"/>
                    </a:solidFill>
                    <a:latin typeface="Calibri"/>
                  </a:rPr>
                  <a:t>in-place</a:t>
                </a:r>
                <a:r>
                  <a:rPr lang="pt-BR" sz="2000" i="1" dirty="0">
                    <a:solidFill>
                      <a:schemeClr val="dk1"/>
                    </a:solidFill>
                    <a:latin typeface="Calibri"/>
                  </a:rPr>
                  <a:t>.</a:t>
                </a:r>
              </a:p>
              <a:p>
                <a:pPr marL="685800" lvl="1" indent="-228600" algn="l" defTabSz="9144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Codificar o algoritmo de pré-processamento e os algoritmos quadráticos em </a:t>
                </a:r>
                <a:r>
                  <a:rPr lang="pt-BR" sz="2000" dirty="0" err="1">
                    <a:solidFill>
                      <a:schemeClr val="dk1"/>
                    </a:solidFill>
                    <a:latin typeface="Calibri"/>
                  </a:rPr>
                  <a:t>Rust</a:t>
                </a:r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, garantindo uma implementação eficiente e modular para a coleta de dados.</a:t>
                </a:r>
              </a:p>
              <a:p>
                <a:pPr marL="685800" lvl="1" indent="-228600" algn="l" defTabSz="9144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Mensurar o tempo físico de execução da abordagem híbrida em cenários com diferentes volumetrias de dados e graus de ordenação prévia (</a:t>
                </a:r>
                <a:r>
                  <a:rPr lang="pt-BR" sz="2000" i="1" dirty="0" err="1">
                    <a:solidFill>
                      <a:schemeClr val="dk1"/>
                    </a:solidFill>
                    <a:latin typeface="Calibri"/>
                  </a:rPr>
                  <a:t>presortedness</a:t>
                </a:r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), incluindo casos de vetores invertidos e parcialmente ordenados.  </a:t>
                </a:r>
              </a:p>
              <a:p>
                <a:pPr marL="685800" lvl="1" indent="-228600" algn="l" defTabSz="9144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Demonstrar estatisticamente os cenários onde a inequação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𝑝𝑟</m:t>
                        </m:r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é</m:t>
                        </m:r>
                      </m:sub>
                    </m:sSub>
                    <m:r>
                      <a:rPr lang="pt-BR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pt-BR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dk1"/>
                    </a:solidFill>
                    <a:latin typeface="Calibri"/>
                  </a:rPr>
                  <a:t> é verdadeira.</a:t>
                </a:r>
                <a:br>
                  <a:rPr lang="pt-BR" sz="2000" dirty="0"/>
                </a:br>
                <a:br>
                  <a:rPr lang="pt-BR" sz="2400" dirty="0"/>
                </a:br>
                <a:br>
                  <a:rPr lang="pt-BR" sz="2400" dirty="0"/>
                </a:br>
                <a:br>
                  <a:rPr lang="pt-BR" sz="2400" dirty="0"/>
                </a:br>
                <a:r>
                  <a:rPr lang="pt-BR" sz="2400" b="0" u="none" strike="noStrike" dirty="0">
                    <a:solidFill>
                      <a:schemeClr val="dk1"/>
                    </a:solidFill>
                    <a:effectLst/>
                    <a:uFillTx/>
                    <a:latin typeface="Arial Narrow"/>
                  </a:rPr>
                  <a:t> </a:t>
                </a:r>
                <a:endParaRPr lang="en-US" sz="2400" b="0" u="none" strike="noStrike" dirty="0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mc:Choice>
        <mc:Fallback xmlns="">
          <p:sp>
            <p:nvSpPr>
              <p:cNvPr id="88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480680" y="1385280"/>
                <a:ext cx="7394040" cy="6936840"/>
              </a:xfrm>
              <a:prstGeom prst="rect">
                <a:avLst/>
              </a:prstGeom>
              <a:blipFill>
                <a:blip r:embed="rId2"/>
                <a:stretch>
                  <a:fillRect l="-1484" t="-1670" r="-140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Imagem 4"/>
          <p:cNvPicPr/>
          <p:nvPr/>
        </p:nvPicPr>
        <p:blipFill>
          <a:blip r:embed="rId3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m 6"/>
          <p:cNvPicPr/>
          <p:nvPr/>
        </p:nvPicPr>
        <p:blipFill>
          <a:blip r:embed="rId4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Métodos e Técnicas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1480680" y="1385280"/>
            <a:ext cx="7394040" cy="52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Pesquisa experimental e quantitativa.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Foco em medições de desempenho real em hardware.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Implementação em </a:t>
            </a:r>
            <a:r>
              <a:rPr lang="pt-BR" sz="2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Rust</a:t>
            </a: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para garantir a previsibilidade e desempenho.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Ambiente de testes modular com </a:t>
            </a:r>
            <a:r>
              <a:rPr lang="pt-BR" sz="2800" dirty="0" err="1">
                <a:latin typeface="Calibri"/>
              </a:rPr>
              <a:t>Criterion</a:t>
            </a:r>
            <a:r>
              <a:rPr lang="pt-BR" sz="2800" dirty="0">
                <a:latin typeface="Calibri"/>
              </a:rPr>
              <a:t> para coleta de métricas.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dirty="0">
                <a:latin typeface="Calibri"/>
              </a:rPr>
              <a:t>Avaliação em diferentes tamanhos de entrada e níveis de </a:t>
            </a:r>
            <a:r>
              <a:rPr lang="pt-BR" sz="2800" dirty="0" err="1">
                <a:latin typeface="Calibri"/>
              </a:rPr>
              <a:t>presortedness</a:t>
            </a:r>
            <a:r>
              <a:rPr lang="pt-BR" sz="2800" dirty="0">
                <a:latin typeface="Calibri"/>
              </a:rPr>
              <a:t>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Resultados Esperados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480680" y="1385280"/>
            <a:ext cx="7394040" cy="52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BR" sz="2800" dirty="0">
                <a:latin typeface="Calibri"/>
              </a:rPr>
              <a:t>Mapeamento teórico do impacto das inversões.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BR" sz="2800" dirty="0">
                <a:latin typeface="Calibri"/>
              </a:rPr>
              <a:t>Formalização e design do algoritmo de pré-processamento.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BR" sz="2800" dirty="0">
                <a:latin typeface="Calibri"/>
              </a:rPr>
              <a:t>Desenvolvimento do ambiente de testes modular em </a:t>
            </a:r>
            <a:r>
              <a:rPr lang="pt-BR" sz="2800" dirty="0" err="1">
                <a:latin typeface="Calibri"/>
              </a:rPr>
              <a:t>Rust</a:t>
            </a:r>
            <a:r>
              <a:rPr lang="pt-BR" sz="2800" dirty="0">
                <a:latin typeface="Calibri"/>
              </a:rPr>
              <a:t>.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BR" sz="2800" dirty="0" err="1">
                <a:latin typeface="Calibri"/>
              </a:rPr>
              <a:t>Dataset</a:t>
            </a:r>
            <a:r>
              <a:rPr lang="pt-BR" sz="2800" dirty="0">
                <a:latin typeface="Calibri"/>
              </a:rPr>
              <a:t> e relatórios do desempenho da abordagem híbrida (pré-processamento + ordenação).</a:t>
            </a: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BR" sz="2800" dirty="0">
                <a:latin typeface="Calibri"/>
              </a:rPr>
              <a:t>Validação estatística e fronteiras de eficiência.</a:t>
            </a:r>
            <a:br>
              <a:rPr lang="pt-BR" sz="2800" dirty="0"/>
            </a:br>
            <a:endParaRPr lang="pt-B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Cronograma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03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421199-967F-D754-CA08-CE866CFD6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77810"/>
              </p:ext>
            </p:extLst>
          </p:nvPr>
        </p:nvGraphicFramePr>
        <p:xfrm>
          <a:off x="1523999" y="1397000"/>
          <a:ext cx="7354529" cy="523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521">
                  <a:extLst>
                    <a:ext uri="{9D8B030D-6E8A-4147-A177-3AD203B41FA5}">
                      <a16:colId xmlns:a16="http://schemas.microsoft.com/office/drawing/2014/main" val="2856960998"/>
                    </a:ext>
                  </a:extLst>
                </a:gridCol>
                <a:gridCol w="701668">
                  <a:extLst>
                    <a:ext uri="{9D8B030D-6E8A-4147-A177-3AD203B41FA5}">
                      <a16:colId xmlns:a16="http://schemas.microsoft.com/office/drawing/2014/main" val="521656223"/>
                    </a:ext>
                  </a:extLst>
                </a:gridCol>
                <a:gridCol w="701668">
                  <a:extLst>
                    <a:ext uri="{9D8B030D-6E8A-4147-A177-3AD203B41FA5}">
                      <a16:colId xmlns:a16="http://schemas.microsoft.com/office/drawing/2014/main" val="938895732"/>
                    </a:ext>
                  </a:extLst>
                </a:gridCol>
                <a:gridCol w="701668">
                  <a:extLst>
                    <a:ext uri="{9D8B030D-6E8A-4147-A177-3AD203B41FA5}">
                      <a16:colId xmlns:a16="http://schemas.microsoft.com/office/drawing/2014/main" val="4097141066"/>
                    </a:ext>
                  </a:extLst>
                </a:gridCol>
                <a:gridCol w="701668">
                  <a:extLst>
                    <a:ext uri="{9D8B030D-6E8A-4147-A177-3AD203B41FA5}">
                      <a16:colId xmlns:a16="http://schemas.microsoft.com/office/drawing/2014/main" val="362168012"/>
                    </a:ext>
                  </a:extLst>
                </a:gridCol>
                <a:gridCol w="701668">
                  <a:extLst>
                    <a:ext uri="{9D8B030D-6E8A-4147-A177-3AD203B41FA5}">
                      <a16:colId xmlns:a16="http://schemas.microsoft.com/office/drawing/2014/main" val="338961970"/>
                    </a:ext>
                  </a:extLst>
                </a:gridCol>
                <a:gridCol w="701668">
                  <a:extLst>
                    <a:ext uri="{9D8B030D-6E8A-4147-A177-3AD203B41FA5}">
                      <a16:colId xmlns:a16="http://schemas.microsoft.com/office/drawing/2014/main" val="1640139412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Atividades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2026 Jul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2026 </a:t>
                      </a:r>
                      <a:r>
                        <a:rPr lang="pt-BR" dirty="0" err="1"/>
                        <a:t>Ago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2026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2026 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2026 </a:t>
                      </a:r>
                      <a:r>
                        <a:rPr lang="pt-BR" dirty="0" err="1"/>
                        <a:t>Nov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2026 Dez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734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 - Realização da Pesquisa Acerca do Impacto de Inversões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23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II - Modelagem do Algoritmo de Pré-Processamento com Base na Pesquisa Realizada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616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III - Desenvolvimento do Algoritmo Seguindo o Modelo Proposto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64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IV - Escrita do Artigo Científico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052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 - Realização de Testes e Obtenção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388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VI - Análise dos Dados Obtidos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379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VII - Defesa do Trabalho de Conclusão de 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8115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tângulo 5"/>
          <p:cNvSpPr/>
          <p:nvPr/>
        </p:nvSpPr>
        <p:spPr>
          <a:xfrm>
            <a:off x="0" y="1147320"/>
            <a:ext cx="1219680" cy="5710320"/>
          </a:xfrm>
          <a:prstGeom prst="rect">
            <a:avLst/>
          </a:prstGeom>
          <a:solidFill>
            <a:srgbClr val="15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20040" y="0"/>
            <a:ext cx="7914600" cy="1146960"/>
          </a:xfrm>
          <a:prstGeom prst="rect">
            <a:avLst/>
          </a:prstGeom>
          <a:solidFill>
            <a:srgbClr val="003975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Arial Narrow"/>
              </a:rPr>
              <a:t>Referências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382357" y="1247629"/>
            <a:ext cx="7394040" cy="52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dirty="0">
                <a:latin typeface="+mn-lt"/>
              </a:rPr>
              <a:t>KNUTH, Donald Ervin. </a:t>
            </a:r>
            <a:r>
              <a:rPr lang="en-US" sz="2200" b="1" dirty="0">
                <a:latin typeface="+mn-lt"/>
              </a:rPr>
              <a:t>The art of computer programming</a:t>
            </a:r>
            <a:r>
              <a:rPr lang="en-US" sz="2200" dirty="0">
                <a:latin typeface="+mn-lt"/>
              </a:rPr>
              <a:t>. Second ed </a:t>
            </a:r>
            <a:r>
              <a:rPr lang="en-US" sz="2200" dirty="0" err="1">
                <a:latin typeface="+mn-lt"/>
              </a:rPr>
              <a:t>ed</a:t>
            </a:r>
            <a:r>
              <a:rPr lang="en-US" sz="2200" dirty="0">
                <a:latin typeface="+mn-lt"/>
              </a:rPr>
              <a:t>. Reading (Mass.) London Manila [etc.]: Addison-Wesley </a:t>
            </a:r>
            <a:r>
              <a:rPr lang="en-US" sz="2200" dirty="0" err="1">
                <a:latin typeface="+mn-lt"/>
              </a:rPr>
              <a:t>publ</a:t>
            </a:r>
            <a:r>
              <a:rPr lang="en-US" sz="2200" dirty="0">
                <a:latin typeface="+mn-lt"/>
              </a:rPr>
              <a:t>, 1973. 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dirty="0">
                <a:latin typeface="+mn-lt"/>
              </a:rPr>
              <a:t>MANNILA, </a:t>
            </a:r>
            <a:r>
              <a:rPr lang="en-US" sz="2200" dirty="0" err="1">
                <a:latin typeface="+mn-lt"/>
              </a:rPr>
              <a:t>Heikki</a:t>
            </a:r>
            <a:r>
              <a:rPr lang="en-US" sz="2200" dirty="0">
                <a:latin typeface="+mn-lt"/>
              </a:rPr>
              <a:t>. Measures of </a:t>
            </a:r>
            <a:r>
              <a:rPr lang="en-US" sz="2200" dirty="0" err="1">
                <a:latin typeface="+mn-lt"/>
              </a:rPr>
              <a:t>presortedness</a:t>
            </a:r>
            <a:r>
              <a:rPr lang="en-US" sz="2200" dirty="0">
                <a:latin typeface="+mn-lt"/>
              </a:rPr>
              <a:t> and optimal sorting algorithms: Extended abstract. In: PAREDAENS, Jan (Org.). </a:t>
            </a:r>
            <a:r>
              <a:rPr lang="en-US" sz="2200" b="1" dirty="0">
                <a:latin typeface="+mn-lt"/>
              </a:rPr>
              <a:t>Automata, Languages and Programming</a:t>
            </a:r>
            <a:r>
              <a:rPr lang="en-US" sz="2200" dirty="0">
                <a:latin typeface="+mn-lt"/>
              </a:rPr>
              <a:t>. Lecture Notes in Computer Science. Berlin, Heidelberg: Springer Berlin Heidelberg, 1984. v. 172 p. 324–336.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dirty="0">
                <a:latin typeface="+mn-lt"/>
              </a:rPr>
              <a:t>CORMEN, Thomas H. et al. </a:t>
            </a:r>
            <a:r>
              <a:rPr lang="en-US" sz="2200" b="1" dirty="0">
                <a:latin typeface="+mn-lt"/>
              </a:rPr>
              <a:t>Introduction to algorithms</a:t>
            </a:r>
            <a:r>
              <a:rPr lang="en-US" sz="2200" dirty="0">
                <a:latin typeface="+mn-lt"/>
              </a:rPr>
              <a:t>. Fourth edition ed. Cambridge, Massachusetts London, England: The MIT Press, 2022.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LAMARCA, Anthony; LADNER, Richard E. </a:t>
            </a:r>
            <a:r>
              <a:rPr lang="en-US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Influence of Caches on the Performance of Sorting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Journal of Algorithms, v. 31, n. 1, p. 66–104, abr. 1999.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</a:rPr>
              <a:t>TANENBAUM, Andrew S.; BOS, Hebert. </a:t>
            </a:r>
            <a:r>
              <a:rPr lang="pt-BR" sz="2200" b="1" dirty="0" err="1">
                <a:latin typeface="Calibri" panose="020F0502020204030204" pitchFamily="34" charset="0"/>
                <a:ea typeface="Calibri" panose="020F0502020204030204" pitchFamily="34" charset="0"/>
              </a:rPr>
              <a:t>Modern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pt-BR" sz="2200" b="1" dirty="0" err="1">
                <a:latin typeface="Calibri" panose="020F0502020204030204" pitchFamily="34" charset="0"/>
                <a:ea typeface="Calibri" panose="020F0502020204030204" pitchFamily="34" charset="0"/>
              </a:rPr>
              <a:t>operating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</a:rPr>
              <a:t> systems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</a:rPr>
              <a:t>. 4. </a:t>
            </a:r>
            <a:r>
              <a:rPr lang="pt-BR" sz="2200" dirty="0" err="1">
                <a:latin typeface="Calibri" panose="020F0502020204030204" pitchFamily="34" charset="0"/>
                <a:ea typeface="Calibri" panose="020F0502020204030204" pitchFamily="34" charset="0"/>
              </a:rPr>
              <a:t>ed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</a:rPr>
              <a:t> ed. Boston: Prentice Hall, 2015.</a:t>
            </a:r>
            <a:endParaRPr lang="pt-BR" sz="2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8" name="Imagem 4"/>
          <p:cNvPicPr/>
          <p:nvPr/>
        </p:nvPicPr>
        <p:blipFill>
          <a:blip r:embed="rId2"/>
          <a:stretch/>
        </p:blipFill>
        <p:spPr>
          <a:xfrm>
            <a:off x="109800" y="54720"/>
            <a:ext cx="1037160" cy="10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Imagem 6"/>
          <p:cNvPicPr/>
          <p:nvPr/>
        </p:nvPicPr>
        <p:blipFill>
          <a:blip r:embed="rId3"/>
          <a:stretch/>
        </p:blipFill>
        <p:spPr>
          <a:xfrm>
            <a:off x="233640" y="5832720"/>
            <a:ext cx="764280" cy="85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630</TotalTime>
  <Words>737</Words>
  <Application>Microsoft Office PowerPoint</Application>
  <PresentationFormat>On-screen Show (4:3)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Narrow</vt:lpstr>
      <vt:lpstr>Arial Nova Cond Light</vt:lpstr>
      <vt:lpstr>Calibri</vt:lpstr>
      <vt:lpstr>Calibri Light</vt:lpstr>
      <vt:lpstr>Cambria Math</vt:lpstr>
      <vt:lpstr>Symbol</vt:lpstr>
      <vt:lpstr>Times New Roman</vt:lpstr>
      <vt:lpstr>Wingdings</vt:lpstr>
      <vt:lpstr>Tema do Office</vt:lpstr>
      <vt:lpstr>PRÉ-PROCESSAMENTO DE BAIXO CUSTO PARA MITIGAÇÃO DE INVERSÕES: OTIMIZANDO A EFICIÊNCIA DE ALGORITMOS QUADRÁTICOS  </vt:lpstr>
      <vt:lpstr>Justificativa</vt:lpstr>
      <vt:lpstr>Problemática</vt:lpstr>
      <vt:lpstr>Questão de Pesquisa</vt:lpstr>
      <vt:lpstr>Objetivos</vt:lpstr>
      <vt:lpstr>Objetivos</vt:lpstr>
      <vt:lpstr>Métodos e Técnicas</vt:lpstr>
      <vt:lpstr>Resultados Esperados</vt:lpstr>
      <vt:lpstr>Cronograma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Rodrigo Baluz</dc:creator>
  <dc:description/>
  <cp:lastModifiedBy>Samuel Nascimento</cp:lastModifiedBy>
  <cp:revision>40</cp:revision>
  <dcterms:created xsi:type="dcterms:W3CDTF">2018-06-29T16:50:39Z</dcterms:created>
  <dcterms:modified xsi:type="dcterms:W3CDTF">2026-07-09T12:41:47Z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(4:3)</vt:lpwstr>
  </property>
  <property fmtid="{D5CDD505-2E9C-101B-9397-08002B2CF9AE}" pid="3" name="Slides">
    <vt:i4>10</vt:i4>
  </property>
</Properties>
</file>